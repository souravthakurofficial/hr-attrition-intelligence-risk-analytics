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62" r:id="rId6"/>
    <p:sldId id="263" r:id="rId7"/>
    <p:sldId id="259" r:id="rId8"/>
    <p:sldId id="266" r:id="rId9"/>
    <p:sldId id="264" r:id="rId10"/>
    <p:sldId id="268" r:id="rId11"/>
    <p:sldId id="265" r:id="rId12"/>
    <p:sldId id="267" r:id="rId13"/>
  </p:sldIdLst>
  <p:sldSz cx="14630400" cy="8229600"/>
  <p:notesSz cx="8229600" cy="14630400"/>
  <p:embeddedFontLst>
    <p:embeddedFont>
      <p:font typeface="Bitter Medium" panose="020B0604020202020204" charset="0"/>
      <p:regular r:id="rId15"/>
    </p:embeddedFont>
    <p:embeddedFont>
      <p:font typeface="Open Sans" panose="020B060603050402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49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0473" y="4472435"/>
            <a:ext cx="13749454" cy="223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HR Attrition Intelligence &amp; Risk Analytics</a:t>
            </a:r>
            <a:endParaRPr lang="en-US" sz="6000" b="1" u="sng" dirty="0"/>
          </a:p>
        </p:txBody>
      </p:sp>
      <p:sp>
        <p:nvSpPr>
          <p:cNvPr id="4" name="Text 1"/>
          <p:cNvSpPr/>
          <p:nvPr/>
        </p:nvSpPr>
        <p:spPr>
          <a:xfrm>
            <a:off x="4260793" y="6322650"/>
            <a:ext cx="61088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u="sng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Workforce Retention Strategy</a:t>
            </a:r>
            <a:endParaRPr lang="en-US" sz="2400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D6B2F1-813D-3444-33C3-1AD8A977E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713678"/>
            <a:ext cx="4876800" cy="3252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9579" y="37006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</a:t>
            </a:r>
            <a:r>
              <a:rPr lang="en-US" sz="3600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</a:t>
            </a:r>
            <a:r>
              <a:rPr lang="en-US" sz="40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Objectives</a:t>
            </a:r>
            <a:endParaRPr lang="en-US" sz="3600" b="1" u="sng" dirty="0"/>
          </a:p>
        </p:txBody>
      </p:sp>
      <p:sp>
        <p:nvSpPr>
          <p:cNvPr id="3" name="Text 1"/>
          <p:cNvSpPr/>
          <p:nvPr/>
        </p:nvSpPr>
        <p:spPr>
          <a:xfrm>
            <a:off x="732884" y="456199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93429" y="4888566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728936" y="4994183"/>
            <a:ext cx="3240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Analyze Attrition Trends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3429" y="5291594"/>
            <a:ext cx="6407944" cy="858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Examine workforce patterns across departments, roles, and demographics to identify at-risk segments.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81526" y="45512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86982" y="4891997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7374756" y="499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Identify Key Drivers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28548" y="5291594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 primary factors contributing to employee exits through statistical analysis and correlation studies.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8936" y="600144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93429" y="6390550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693429" y="6523066"/>
            <a:ext cx="3759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Detect High-Risk Employees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3429" y="6877396"/>
            <a:ext cx="6407944" cy="448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predictive models to flag individuals likely to leave before resignation occurs.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86982" y="600144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374756" y="6392848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374756" y="6520395"/>
            <a:ext cx="35010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Enable Strategic Decisions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28547" y="686333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actionable insights to HR leadership for targeted retention interventions and policy adjustments.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8E4011-6CF8-981D-9F9C-F6DCE5D612D6}"/>
              </a:ext>
            </a:extLst>
          </p:cNvPr>
          <p:cNvGrpSpPr/>
          <p:nvPr/>
        </p:nvGrpSpPr>
        <p:grpSpPr>
          <a:xfrm>
            <a:off x="693429" y="1558772"/>
            <a:ext cx="13200222" cy="1722327"/>
            <a:chOff x="721949" y="2530316"/>
            <a:chExt cx="13200222" cy="2410897"/>
          </a:xfrm>
        </p:grpSpPr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E1FC6823-CED2-6CB6-091F-41EA26055D86}"/>
                </a:ext>
              </a:extLst>
            </p:cNvPr>
            <p:cNvSpPr/>
            <p:nvPr/>
          </p:nvSpPr>
          <p:spPr>
            <a:xfrm>
              <a:off x="721949" y="2530316"/>
              <a:ext cx="4196358" cy="2410897"/>
            </a:xfrm>
            <a:prstGeom prst="roundRect">
              <a:avLst>
                <a:gd name="adj" fmla="val 3952"/>
              </a:avLst>
            </a:prstGeom>
            <a:solidFill>
              <a:srgbClr val="FCE2CF"/>
            </a:solidFill>
            <a:ln w="7620">
              <a:solidFill>
                <a:srgbClr val="E2C8B5"/>
              </a:solidFill>
              <a:prstDash val="solid"/>
            </a:ln>
          </p:spPr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007A16EC-86B2-9606-2716-499ACEAE9028}"/>
                </a:ext>
              </a:extLst>
            </p:cNvPr>
            <p:cNvSpPr/>
            <p:nvPr/>
          </p:nvSpPr>
          <p:spPr>
            <a:xfrm>
              <a:off x="1118262" y="2721379"/>
              <a:ext cx="3501390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2B2E3C"/>
                  </a:solidFill>
                  <a:latin typeface="Bitter Medium" pitchFamily="34" charset="0"/>
                  <a:ea typeface="Bitter Medium" pitchFamily="34" charset="-122"/>
                  <a:cs typeface="Bitter Medium" pitchFamily="34" charset="-120"/>
                </a:rPr>
                <a:t>Cost &amp; Productivity Impact</a:t>
              </a:r>
              <a:endParaRPr lang="en-US" dirty="0"/>
            </a:p>
          </p:txBody>
        </p:sp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81805BB4-541C-A663-0153-34C8ACCE3EFB}"/>
                </a:ext>
              </a:extLst>
            </p:cNvPr>
            <p:cNvSpPr/>
            <p:nvPr/>
          </p:nvSpPr>
          <p:spPr>
            <a:xfrm>
              <a:off x="1028225" y="3174600"/>
              <a:ext cx="3727490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Employee attrition directly affects operational costs, productivity loss, and knowledge retention across the organization.</a:t>
              </a:r>
              <a:endParaRPr lang="en-US" sz="1200" dirty="0"/>
            </a:p>
          </p:txBody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F22AD007-07B6-D4C8-F542-A8C3115F1AF0}"/>
                </a:ext>
              </a:extLst>
            </p:cNvPr>
            <p:cNvSpPr/>
            <p:nvPr/>
          </p:nvSpPr>
          <p:spPr>
            <a:xfrm>
              <a:off x="5216962" y="2530316"/>
              <a:ext cx="4196358" cy="2410897"/>
            </a:xfrm>
            <a:prstGeom prst="roundRect">
              <a:avLst>
                <a:gd name="adj" fmla="val 3952"/>
              </a:avLst>
            </a:prstGeom>
            <a:solidFill>
              <a:srgbClr val="FCE2CF"/>
            </a:solidFill>
            <a:ln w="7620">
              <a:solidFill>
                <a:srgbClr val="E2C8B5"/>
              </a:solidFill>
              <a:prstDash val="solid"/>
            </a:ln>
          </p:spPr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BB1C3B8F-BDAB-C1CF-9772-37296F8D0CF2}"/>
                </a:ext>
              </a:extLst>
            </p:cNvPr>
            <p:cNvSpPr/>
            <p:nvPr/>
          </p:nvSpPr>
          <p:spPr>
            <a:xfrm>
              <a:off x="5529455" y="2721379"/>
              <a:ext cx="2974062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2B2E3C"/>
                  </a:solidFill>
                  <a:latin typeface="Bitter Medium" pitchFamily="34" charset="0"/>
                  <a:ea typeface="Bitter Medium" pitchFamily="34" charset="-122"/>
                  <a:cs typeface="Bitter Medium" pitchFamily="34" charset="-120"/>
                </a:rPr>
                <a:t>Reactive HR Reporting</a:t>
              </a:r>
              <a:endParaRPr lang="en-US" dirty="0"/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82BEBCB8-A058-7966-786B-1B4764B80985}"/>
                </a:ext>
              </a:extLst>
            </p:cNvPr>
            <p:cNvSpPr/>
            <p:nvPr/>
          </p:nvSpPr>
          <p:spPr>
            <a:xfrm>
              <a:off x="5529455" y="3174600"/>
              <a:ext cx="3727490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Traditional HR reporting identifies exits after they occur rather than predicting and preventing them proactively.</a:t>
              </a:r>
              <a:endParaRPr lang="en-US" sz="1200" dirty="0"/>
            </a:p>
          </p:txBody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190B4014-2ACF-A490-08F6-05FE33622E2F}"/>
                </a:ext>
              </a:extLst>
            </p:cNvPr>
            <p:cNvSpPr/>
            <p:nvPr/>
          </p:nvSpPr>
          <p:spPr>
            <a:xfrm>
              <a:off x="9725813" y="2530316"/>
              <a:ext cx="4196358" cy="2410897"/>
            </a:xfrm>
            <a:prstGeom prst="roundRect">
              <a:avLst>
                <a:gd name="adj" fmla="val 3952"/>
              </a:avLst>
            </a:prstGeom>
            <a:solidFill>
              <a:srgbClr val="FCE2CF"/>
            </a:solidFill>
            <a:ln w="7620">
              <a:solidFill>
                <a:srgbClr val="E2C8B5"/>
              </a:solidFill>
              <a:prstDash val="solid"/>
            </a:ln>
          </p:spPr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7264DED3-C328-BBCA-3FB5-4F3CC17C5FE6}"/>
                </a:ext>
              </a:extLst>
            </p:cNvPr>
            <p:cNvSpPr/>
            <p:nvPr/>
          </p:nvSpPr>
          <p:spPr>
            <a:xfrm>
              <a:off x="10100878" y="2721379"/>
              <a:ext cx="3411260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2B2E3C"/>
                  </a:solidFill>
                  <a:latin typeface="Bitter Medium" pitchFamily="34" charset="0"/>
                  <a:ea typeface="Bitter Medium" pitchFamily="34" charset="-122"/>
                  <a:cs typeface="Bitter Medium" pitchFamily="34" charset="-120"/>
                </a:rPr>
                <a:t>Strategic Intelligence Gap</a:t>
              </a:r>
              <a:endParaRPr lang="en-US" dirty="0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54E97447-352D-6FBF-A40C-86BBAE0CD34E}"/>
                </a:ext>
              </a:extLst>
            </p:cNvPr>
            <p:cNvSpPr/>
            <p:nvPr/>
          </p:nvSpPr>
          <p:spPr>
            <a:xfrm>
              <a:off x="10100878" y="3174847"/>
              <a:ext cx="3727490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200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Organizations need predictive analytics and early risk detection to enable data-driven workforce retention decisions.</a:t>
              </a:r>
              <a:endParaRPr lang="en-US" sz="1200" dirty="0"/>
            </a:p>
          </p:txBody>
        </p:sp>
      </p:grpSp>
      <p:sp>
        <p:nvSpPr>
          <p:cNvPr id="30" name="Text 0">
            <a:extLst>
              <a:ext uri="{FF2B5EF4-FFF2-40B4-BE49-F238E27FC236}">
                <a16:creationId xmlns:a16="http://schemas.microsoft.com/office/drawing/2014/main" id="{657D5AFD-E106-630A-1C74-2F17C9B73CB7}"/>
              </a:ext>
            </a:extLst>
          </p:cNvPr>
          <p:cNvSpPr/>
          <p:nvPr/>
        </p:nvSpPr>
        <p:spPr>
          <a:xfrm>
            <a:off x="4083400" y="612081"/>
            <a:ext cx="62288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Business Challenge</a:t>
            </a:r>
            <a:endParaRPr lang="en-US" sz="4450" b="1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363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Executive Overview</a:t>
            </a:r>
            <a:endParaRPr lang="en-US" sz="4450" b="1" u="sng" dirty="0"/>
          </a:p>
        </p:txBody>
      </p:sp>
      <p:sp>
        <p:nvSpPr>
          <p:cNvPr id="4" name="Text 1"/>
          <p:cNvSpPr/>
          <p:nvPr/>
        </p:nvSpPr>
        <p:spPr>
          <a:xfrm>
            <a:off x="9638943" y="2179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Critical Findings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660464"/>
            <a:ext cx="4205168" cy="326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D50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&amp; Development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department shows highest attrition rates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Overtime contributes to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30.53%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total attrition cases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Early-career employees face elevated exit probability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Promotion gaps significantly increase resignation likelihood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1EAD0D-F513-163E-D3F1-4E8C25432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3" y="1639229"/>
            <a:ext cx="8768076" cy="55749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67517" y="1536839"/>
            <a:ext cx="6634758" cy="1668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Attrition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8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Drivers</a:t>
            </a:r>
            <a:endParaRPr lang="en-US" sz="4800" b="1" u="sng" dirty="0"/>
          </a:p>
        </p:txBody>
      </p:sp>
      <p:sp>
        <p:nvSpPr>
          <p:cNvPr id="3" name="Shape 1"/>
          <p:cNvSpPr/>
          <p:nvPr/>
        </p:nvSpPr>
        <p:spPr>
          <a:xfrm>
            <a:off x="795814" y="5379956"/>
            <a:ext cx="6407944" cy="1088709"/>
          </a:xfrm>
          <a:prstGeom prst="roundRect">
            <a:avLst>
              <a:gd name="adj" fmla="val 6988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74323" y="5376375"/>
            <a:ext cx="121920" cy="1088709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5459692"/>
            <a:ext cx="2967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Overtime Dependency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6407" y="5736922"/>
            <a:ext cx="5801916" cy="708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Employees working overtime show </a:t>
            </a:r>
            <a:r>
              <a:rPr lang="en-US" sz="1400" dirty="0">
                <a:solidFill>
                  <a:srgbClr val="FD50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30.53% higher attrition</a:t>
            </a: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compared to standard hours. Work-life balance emerges as critical factor.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39621" y="5376375"/>
            <a:ext cx="6408063" cy="1092290"/>
          </a:xfrm>
          <a:prstGeom prst="roundRect">
            <a:avLst>
              <a:gd name="adj" fmla="val 6988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26644" y="5351993"/>
            <a:ext cx="140477" cy="111667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7702867" y="54596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Promotion Gaps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11499" y="5748657"/>
            <a:ext cx="5802035" cy="74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career advancement opportunities strongly correlates with increased exit probability, particularly in mid-tenure employees.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4323" y="6545766"/>
            <a:ext cx="6407944" cy="1179010"/>
          </a:xfrm>
          <a:prstGeom prst="roundRect">
            <a:avLst>
              <a:gd name="adj" fmla="val 6988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763310" y="6545766"/>
            <a:ext cx="143887" cy="117901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164551" y="66458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Departmental Risk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64551" y="7000161"/>
            <a:ext cx="5801916" cy="8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and R&amp;D departments exhibit elevated attrition patterns, driven by role-specific stress factors and compensation dynamics.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59027" y="6545766"/>
            <a:ext cx="6408063" cy="1179010"/>
          </a:xfrm>
          <a:prstGeom prst="roundRect">
            <a:avLst>
              <a:gd name="adj" fmla="val 6988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9621" y="6545765"/>
            <a:ext cx="121920" cy="1179011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6645831"/>
            <a:ext cx="30227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Job Role Concentration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02867" y="7000161"/>
            <a:ext cx="6011824" cy="70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Certain positions drive majority of exits, revealing structural issues in role design, workload distribution, or growth pathways.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43516B-5BBD-37AC-9049-EE2EE88D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966" y="542761"/>
            <a:ext cx="9342099" cy="4391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1670" y="10310"/>
            <a:ext cx="87722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Workforce Demographics Impact</a:t>
            </a:r>
            <a:endParaRPr lang="en-US" sz="4000" b="1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05" y="539830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8671" y="5350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Age Distribution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448671" y="5770090"/>
            <a:ext cx="5529143" cy="77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attrition concentrated in </a:t>
            </a:r>
            <a:r>
              <a:rPr lang="en-US" sz="1200" dirty="0">
                <a:solidFill>
                  <a:srgbClr val="FD50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30-39 age group</a:t>
            </a: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representing critical mid-career transition phase with elevated mobility.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2587" y="537416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6" y="5350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Marital Status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307348" y="5702512"/>
            <a:ext cx="5529263" cy="77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employees demonstrate higher attrition rates compared to married counterparts, suggesting life-stage considerations influence stability.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205" y="663355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8671" y="6562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Gender Patterns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448671" y="6917041"/>
            <a:ext cx="5529143" cy="77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employees show slightly elevated attrition versus female colleagues, though gap remains relatively narrow across organization.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52587" y="6545840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7" y="6562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Education Field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8307347" y="6917041"/>
            <a:ext cx="5529263" cy="77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Specific educational backgrounds correlate with exit patterns, revealing alignment mismatches between training and role expectations.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A46B12-EFB3-D64D-A13E-42D8F19E4B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428" y="719089"/>
            <a:ext cx="12406035" cy="4544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91969" y="0"/>
            <a:ext cx="87285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Compensation, Growth &amp; Culture</a:t>
            </a:r>
            <a:endParaRPr lang="en-US" sz="4000" b="1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84" y="5975295"/>
            <a:ext cx="4196358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65664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Promotion Impact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020604" y="6853651"/>
            <a:ext cx="37427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Promotion delays influence attrition more significantly than salary levels alone, highlighting career growth as primary motivator.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632" y="5743644"/>
            <a:ext cx="4196358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75957" y="6389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Job Satisfaction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275957" y="6743634"/>
            <a:ext cx="37427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satisfaction scores strongly predict resignation likelihood, serving as early warning indicator for intervention.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381" y="5493481"/>
            <a:ext cx="4196358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4316" y="6227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Work-Life Balance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9674316" y="6626835"/>
            <a:ext cx="37427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Poor work-life balance demonstrates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strongest correlation with attrition, amplified when combined with overtime requirements.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FAE275-1954-FF19-A726-E2BA5A910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356" y="708779"/>
            <a:ext cx="11216009" cy="47847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6AF4DF22-E5C1-F351-D971-CED4EC6121E9}"/>
              </a:ext>
            </a:extLst>
          </p:cNvPr>
          <p:cNvSpPr/>
          <p:nvPr/>
        </p:nvSpPr>
        <p:spPr>
          <a:xfrm>
            <a:off x="2891969" y="0"/>
            <a:ext cx="87285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b="1" u="sng" dirty="0">
                <a:solidFill>
                  <a:srgbClr val="2C3F42"/>
                </a:solidFill>
                <a:latin typeface="Bitter Medium" pitchFamily="34" charset="0"/>
              </a:rPr>
              <a:t>Culture And Workload</a:t>
            </a:r>
            <a:endParaRPr lang="en-US" sz="4000" b="1" u="sng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95375F0-1996-01F5-C00A-67AB98EB6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80" y="925551"/>
            <a:ext cx="12641439" cy="6685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430324-6673-8683-7C06-243A209BA593}"/>
              </a:ext>
            </a:extLst>
          </p:cNvPr>
          <p:cNvSpPr/>
          <p:nvPr/>
        </p:nvSpPr>
        <p:spPr>
          <a:xfrm>
            <a:off x="2891969" y="0"/>
            <a:ext cx="87285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b="1" u="sng" dirty="0">
                <a:solidFill>
                  <a:srgbClr val="2C3F42"/>
                </a:solidFill>
                <a:latin typeface="Bitter Medium" pitchFamily="34" charset="0"/>
              </a:rPr>
              <a:t>Tenure And Career Lifecycle</a:t>
            </a:r>
            <a:endParaRPr lang="en-US" sz="40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80B27-F05E-490B-8314-B64AD7F3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743" y="814039"/>
            <a:ext cx="12450913" cy="669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4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279"/>
            <a:ext cx="9164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High-Risk Employee Identification</a:t>
            </a:r>
            <a:endParaRPr lang="en-US" sz="4450" b="1" u="sng" dirty="0"/>
          </a:p>
        </p:txBody>
      </p:sp>
      <p:sp>
        <p:nvSpPr>
          <p:cNvPr id="3" name="Text 1"/>
          <p:cNvSpPr/>
          <p:nvPr/>
        </p:nvSpPr>
        <p:spPr>
          <a:xfrm>
            <a:off x="793790" y="2124670"/>
            <a:ext cx="34361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Risk Scoring Methodology</a:t>
            </a:r>
            <a:endParaRPr lang="en-US" sz="2200" b="1" u="sng" dirty="0"/>
          </a:p>
        </p:txBody>
      </p:sp>
      <p:sp>
        <p:nvSpPr>
          <p:cNvPr id="4" name="Text 2"/>
          <p:cNvSpPr/>
          <p:nvPr/>
        </p:nvSpPr>
        <p:spPr>
          <a:xfrm>
            <a:off x="793790" y="2705814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employees evaluated using predictive analytics incorporating tenure, satisfaction, overtime, and promotion history.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84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Segments</a:t>
            </a:r>
            <a:endParaRPr lang="en-US" sz="2200" b="1" u="sng" dirty="0"/>
          </a:p>
        </p:txBody>
      </p:sp>
      <p:sp>
        <p:nvSpPr>
          <p:cNvPr id="6" name="Text 4"/>
          <p:cNvSpPr/>
          <p:nvPr/>
        </p:nvSpPr>
        <p:spPr>
          <a:xfrm>
            <a:off x="793790" y="4965383"/>
            <a:ext cx="4205168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R&amp;D and Sales show highest concentration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Role: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Technical and customer-facing positions at elevated risk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Male employees in early-career phase most vulnerable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76E6CE-8C06-ED2D-30A2-C41F9399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958" y="2018371"/>
            <a:ext cx="8565513" cy="50351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51D54E-2C1B-0E86-F59D-7EB8FFD5C51F}"/>
              </a:ext>
            </a:extLst>
          </p:cNvPr>
          <p:cNvSpPr/>
          <p:nvPr/>
        </p:nvSpPr>
        <p:spPr>
          <a:xfrm>
            <a:off x="2891969" y="189571"/>
            <a:ext cx="87285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b="1" u="sng" dirty="0">
                <a:solidFill>
                  <a:srgbClr val="2C3F42"/>
                </a:solidFill>
                <a:latin typeface="Bitter Medium" pitchFamily="34" charset="0"/>
              </a:rPr>
              <a:t>Insights</a:t>
            </a:r>
            <a:endParaRPr lang="en-US" sz="40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D73AC-50EE-33D2-34E7-B29C642D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80" y="1003611"/>
            <a:ext cx="12460439" cy="63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2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1403" y="878144"/>
            <a:ext cx="7116605" cy="1089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600" b="1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Strategic Insights &amp; Action Plan</a:t>
            </a:r>
            <a:endParaRPr lang="en-US" sz="3600" b="1" u="sng" dirty="0"/>
          </a:p>
        </p:txBody>
      </p:sp>
      <p:sp>
        <p:nvSpPr>
          <p:cNvPr id="3" name="Shape 1"/>
          <p:cNvSpPr/>
          <p:nvPr/>
        </p:nvSpPr>
        <p:spPr>
          <a:xfrm>
            <a:off x="7307461" y="2036326"/>
            <a:ext cx="15240" cy="2853690"/>
          </a:xfrm>
          <a:prstGeom prst="roundRect">
            <a:avLst>
              <a:gd name="adj" fmla="val 358918"/>
            </a:avLst>
          </a:prstGeom>
          <a:solidFill>
            <a:srgbClr val="E2C8B5"/>
          </a:solidFill>
          <a:ln/>
        </p:spPr>
      </p:sp>
      <p:sp>
        <p:nvSpPr>
          <p:cNvPr id="4" name="Shape 2"/>
          <p:cNvSpPr/>
          <p:nvPr/>
        </p:nvSpPr>
        <p:spPr>
          <a:xfrm>
            <a:off x="2806779" y="2036326"/>
            <a:ext cx="4493062" cy="851535"/>
          </a:xfrm>
          <a:prstGeom prst="roundRect">
            <a:avLst>
              <a:gd name="adj" fmla="val 64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41764" y="2174081"/>
            <a:ext cx="1627942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Critical Insight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4535" y="2422208"/>
            <a:ext cx="4225171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Overtime combined with low satisfaction represents </a:t>
            </a:r>
            <a:r>
              <a:rPr lang="en-US" sz="1000" dirty="0">
                <a:solidFill>
                  <a:srgbClr val="FD50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strongest attrition driver</a:t>
            </a: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requiring immediate operational changes.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30321" y="3037403"/>
            <a:ext cx="4493181" cy="851535"/>
          </a:xfrm>
          <a:prstGeom prst="rect">
            <a:avLst/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60456" y="3175159"/>
            <a:ext cx="1627942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Strategic Window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60456" y="3423285"/>
            <a:ext cx="4225290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tenure period (first 1-2 years) constitutes most vulnerable phase, demanding enhanced onboarding and engagement programs.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06779" y="4038481"/>
            <a:ext cx="4493062" cy="851535"/>
          </a:xfrm>
          <a:prstGeom prst="roundRect">
            <a:avLst>
              <a:gd name="adj" fmla="val 64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764" y="4176236"/>
            <a:ext cx="1627942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Career Stagnation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44535" y="4424363"/>
            <a:ext cx="4225171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promotion opportunities drives exits more than compensation, necessitating clear advancement pathways.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22019" y="5002173"/>
            <a:ext cx="2118241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u="sng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Recommended Actions</a:t>
            </a:r>
            <a:endParaRPr lang="en-US" sz="1500" u="sng" dirty="0"/>
          </a:p>
        </p:txBody>
      </p:sp>
      <p:sp>
        <p:nvSpPr>
          <p:cNvPr id="14" name="Shape 12"/>
          <p:cNvSpPr/>
          <p:nvPr/>
        </p:nvSpPr>
        <p:spPr>
          <a:xfrm>
            <a:off x="2822019" y="5358527"/>
            <a:ext cx="293013" cy="29301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0835" y="5382935"/>
            <a:ext cx="19526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89803" y="5403294"/>
            <a:ext cx="2297668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Reduce Overtime Dependency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89803" y="5651421"/>
            <a:ext cx="4078605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workload redistribution and hire strategically to eliminate chronic overtime in high-risk departments.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1873" y="5358527"/>
            <a:ext cx="293013" cy="29301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0688" y="5382935"/>
            <a:ext cx="19526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29657" y="5403294"/>
            <a:ext cx="2208967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Improve Promotion Planning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29657" y="5651421"/>
            <a:ext cx="4078605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 transparent career ladders with regular advancement reviews and clear eligibility criteria.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22019" y="6128861"/>
            <a:ext cx="293013" cy="29301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0835" y="6153269"/>
            <a:ext cx="19526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89803" y="6173629"/>
            <a:ext cx="2951083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Strengthen Onboarding &amp; Engagement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189803" y="6421755"/>
            <a:ext cx="4078605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targeted programs for early-tenure employees with monthly check-ins and mentorship pairing.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1873" y="6128861"/>
            <a:ext cx="293013" cy="29301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10688" y="6153269"/>
            <a:ext cx="19526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29657" y="6173629"/>
            <a:ext cx="2069187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Deploy Predictive Analytics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29657" y="6421755"/>
            <a:ext cx="4078605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risk scoring into HR operations for quarterly proactive retention interventions before resignation occurs.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9D4E11-86F0-3666-7F6F-13689CCDA618}"/>
              </a:ext>
            </a:extLst>
          </p:cNvPr>
          <p:cNvSpPr/>
          <p:nvPr/>
        </p:nvSpPr>
        <p:spPr>
          <a:xfrm>
            <a:off x="2421867" y="3300760"/>
            <a:ext cx="9164122" cy="95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8800" b="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Thank You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79963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616</Words>
  <Application>Microsoft Office PowerPoint</Application>
  <PresentationFormat>Custom</PresentationFormat>
  <Paragraphs>94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Bitter Medium</vt:lpstr>
      <vt:lpstr>Bitter Light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SOURAV THAKUR</cp:lastModifiedBy>
  <cp:revision>2</cp:revision>
  <dcterms:created xsi:type="dcterms:W3CDTF">2026-02-08T14:53:43Z</dcterms:created>
  <dcterms:modified xsi:type="dcterms:W3CDTF">2026-02-08T15:44:18Z</dcterms:modified>
</cp:coreProperties>
</file>